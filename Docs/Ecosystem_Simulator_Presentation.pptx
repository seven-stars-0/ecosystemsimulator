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Merriweather Light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Open Sans SemiBold"/>
      <p:regular r:id="rId25"/>
      <p:bold r:id="rId26"/>
      <p:italic r:id="rId27"/>
      <p:boldItalic r:id="rId28"/>
    </p:embeddedFont>
    <p:embeddedFont>
      <p:font typeface="Vidaloka"/>
      <p:regular r:id="rId29"/>
    </p:embeddedFont>
    <p:embeddedFont>
      <p:font typeface="Russo One"/>
      <p:regular r:id="rId30"/>
    </p:embeddedFont>
    <p:embeddedFont>
      <p:font typeface="Mako"/>
      <p:regular r:id="rId31"/>
    </p:embeddedFont>
    <p:embeddedFont>
      <p:font typeface="Crimson Text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font" Target="fonts/MerriweatherLight-regular.fntdata"/><Relationship Id="rId18" Type="http://schemas.openxmlformats.org/officeDocument/2006/relationships/font" Target="fonts/MerriweatherLight-bold.fntdata"/><Relationship Id="rId19" Type="http://schemas.openxmlformats.org/officeDocument/2006/relationships/font" Target="fonts/MerriweatherLight-italic.fntdata"/><Relationship Id="rId20" Type="http://schemas.openxmlformats.org/officeDocument/2006/relationships/font" Target="fonts/MerriweatherLight-boldItalic.fntdata"/><Relationship Id="rId21" Type="http://schemas.openxmlformats.org/officeDocument/2006/relationships/font" Target="fonts/Montserrat-regular.fntdata"/><Relationship Id="rId22" Type="http://schemas.openxmlformats.org/officeDocument/2006/relationships/font" Target="fonts/Montserrat-bold.fntdata"/><Relationship Id="rId23" Type="http://schemas.openxmlformats.org/officeDocument/2006/relationships/font" Target="fonts/Montserrat-italic.fntdata"/><Relationship Id="rId24" Type="http://schemas.openxmlformats.org/officeDocument/2006/relationships/font" Target="fonts/Montserrat-boldItalic.fntdata"/><Relationship Id="rId25" Type="http://schemas.openxmlformats.org/officeDocument/2006/relationships/font" Target="fonts/OpenSansSemiBold-regular.fntdata"/><Relationship Id="rId26" Type="http://schemas.openxmlformats.org/officeDocument/2006/relationships/font" Target="fonts/OpenSansSemiBold-bold.fntdata"/><Relationship Id="rId27" Type="http://schemas.openxmlformats.org/officeDocument/2006/relationships/font" Target="fonts/OpenSansSemiBold-italic.fntdata"/><Relationship Id="rId28" Type="http://schemas.openxmlformats.org/officeDocument/2006/relationships/font" Target="fonts/OpenSansSemiBold-boldItalic.fntdata"/><Relationship Id="rId29" Type="http://schemas.openxmlformats.org/officeDocument/2006/relationships/font" Target="fonts/Vidaloka-regular.fntdata"/><Relationship Id="rId30" Type="http://schemas.openxmlformats.org/officeDocument/2006/relationships/font" Target="fonts/RussoOne-regular.fntdata"/><Relationship Id="rId31" Type="http://schemas.openxmlformats.org/officeDocument/2006/relationships/font" Target="fonts/Mako-regular.fntdata"/><Relationship Id="rId32" Type="http://schemas.openxmlformats.org/officeDocument/2006/relationships/font" Target="fonts/CrimsonText-regular.fntdata"/><Relationship Id="rId33" Type="http://schemas.openxmlformats.org/officeDocument/2006/relationships/font" Target="fonts/CrimsonText-bold.fntdata"/><Relationship Id="rId34" Type="http://schemas.openxmlformats.org/officeDocument/2006/relationships/font" Target="fonts/CrimsonText-italic.fntdata"/><Relationship Id="rId35" Type="http://schemas.openxmlformats.org/officeDocument/2006/relationships/font" Target="fonts/CrimsonText-boldItalic.fntdata"/><Relationship Id="rId36" Type="http://schemas.openxmlformats.org/officeDocument/2006/relationships/font" Target="fonts/OpenSans-regular.fntdata"/><Relationship Id="rId37" Type="http://schemas.openxmlformats.org/officeDocument/2006/relationships/font" Target="fonts/OpenSans-bold.fntdata"/><Relationship Id="rId38" Type="http://schemas.openxmlformats.org/officeDocument/2006/relationships/font" Target="fonts/OpenSans-italic.fntdata"/><Relationship Id="rId39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05aad17dc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05aad17dc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ecade038f5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ecade038f5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cc7554a049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cc7554a049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cade038f5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ecade038f5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cade038f5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ecade038f5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ecade038f5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ecade038f5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ecade038f5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ecade038f5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ecade038f5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ecade038f5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ecade038f5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ecade038f5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ecade038f5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ecade038f5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cc7554a049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cc7554a049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291400" y="3305275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2" type="subTitle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50" name="Google Shape;50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/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0"/>
          <p:cNvCxnSpPr/>
          <p:nvPr/>
        </p:nvCxnSpPr>
        <p:spPr>
          <a:xfrm flipH="1" rot="10800000">
            <a:off x="6144975" y="3103725"/>
            <a:ext cx="3118200" cy="2201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hasCustomPrompt="1" type="title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idx="1" type="subTitle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68" name="Google Shape;6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6" name="Google Shape;76;p13"/>
          <p:cNvSpPr txBox="1"/>
          <p:nvPr>
            <p:ph idx="2" type="subTitle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3" type="subTitle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8" name="Google Shape;78;p13"/>
          <p:cNvSpPr txBox="1"/>
          <p:nvPr>
            <p:ph idx="4" type="subTitle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5" type="subTitle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0" name="Google Shape;80;p13"/>
          <p:cNvSpPr txBox="1"/>
          <p:nvPr>
            <p:ph idx="6" type="subTitle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7" type="subTitle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2" name="Google Shape;82;p13"/>
          <p:cNvSpPr txBox="1"/>
          <p:nvPr>
            <p:ph idx="8" type="subTitle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9" type="title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hasCustomPrompt="1" idx="13" type="title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hasCustomPrompt="1" idx="14" type="title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15" type="title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4"/>
          <p:cNvSpPr txBox="1"/>
          <p:nvPr>
            <p:ph hasCustomPrompt="1" idx="2" type="title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" type="title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hasCustomPrompt="1" idx="4" type="title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5" type="subTitle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6" type="title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4"/>
          <p:cNvSpPr txBox="1"/>
          <p:nvPr>
            <p:ph hasCustomPrompt="1" idx="7" type="title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/>
          <p:nvPr>
            <p:ph idx="8" type="subTitle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9" type="title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14"/>
          <p:cNvSpPr txBox="1"/>
          <p:nvPr>
            <p:ph hasCustomPrompt="1" idx="13" type="title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/>
          <p:nvPr>
            <p:ph idx="14" type="subTitle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5" type="title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4"/>
          <p:cNvSpPr txBox="1"/>
          <p:nvPr>
            <p:ph hasCustomPrompt="1" idx="16" type="title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/>
          <p:nvPr>
            <p:ph idx="17" type="subTitle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8" type="title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4"/>
          <p:cNvSpPr txBox="1"/>
          <p:nvPr>
            <p:ph hasCustomPrompt="1" idx="19" type="title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/>
          <p:nvPr>
            <p:ph idx="20" type="subTitle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21" type="title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2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idx="1" type="subTitle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SECTION_TITLE_AND_DESCRIPTION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1" name="Google Shape;141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45" name="Google Shape;145;p20"/>
          <p:cNvSpPr txBox="1"/>
          <p:nvPr>
            <p:ph idx="1" type="subTitle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6" name="Google Shape;146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427325" y="2511800"/>
            <a:ext cx="4965600" cy="1113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p21"/>
          <p:cNvSpPr txBox="1"/>
          <p:nvPr>
            <p:ph hasCustomPrompt="1" idx="2" type="title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55" name="Google Shape;155;p21"/>
          <p:cNvSpPr txBox="1"/>
          <p:nvPr>
            <p:ph idx="1" type="subTitle"/>
          </p:nvPr>
        </p:nvSpPr>
        <p:spPr>
          <a:xfrm>
            <a:off x="831625" y="3625000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6" name="Google Shape;156;p21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1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1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62" name="Google Shape;162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7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5" name="Google Shape;175;p24"/>
          <p:cNvSpPr txBox="1"/>
          <p:nvPr>
            <p:ph idx="1" type="subTitle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6" name="Google Shape;176;p24"/>
          <p:cNvSpPr txBox="1"/>
          <p:nvPr>
            <p:ph idx="2" type="subTitle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 txBox="1"/>
          <p:nvPr>
            <p:ph idx="3" type="subTitle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8" name="Google Shape;178;p24"/>
          <p:cNvSpPr txBox="1"/>
          <p:nvPr>
            <p:ph idx="4" type="subTitle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5" type="subTitle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80" name="Google Shape;180;p24"/>
          <p:cNvSpPr txBox="1"/>
          <p:nvPr>
            <p:ph idx="6" type="subTitle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7" type="subTitle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82" name="Google Shape;182;p24"/>
          <p:cNvSpPr txBox="1"/>
          <p:nvPr>
            <p:ph idx="8" type="subTitle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3" name="Google Shape;183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8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19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hasCustomPrompt="1" type="title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/>
          <p:nvPr>
            <p:ph idx="1" type="subTitle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94" name="Google Shape;194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0" name="Google Shape;200;p27"/>
          <p:cNvSpPr txBox="1"/>
          <p:nvPr>
            <p:ph hasCustomPrompt="1" idx="2" type="title"/>
          </p:nvPr>
        </p:nvSpPr>
        <p:spPr>
          <a:xfrm>
            <a:off x="4956100" y="1021325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01" name="Google Shape;201;p27"/>
          <p:cNvSpPr txBox="1"/>
          <p:nvPr>
            <p:ph idx="1" type="subTitle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2" name="Google Shape;202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20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7" name="Google Shape;207;p28"/>
          <p:cNvSpPr txBox="1"/>
          <p:nvPr>
            <p:ph hasCustomPrompt="1" idx="2" type="title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/>
          <p:nvPr>
            <p:ph idx="1" type="subTitle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9" name="Google Shape;209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idx="1" type="subTitle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30"/>
          <p:cNvSpPr txBox="1"/>
          <p:nvPr>
            <p:ph idx="1" type="subTitle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24" name="Google Shape;224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3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3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idx="1" type="subTitle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2" name="Google Shape;232;p31"/>
          <p:cNvSpPr txBox="1"/>
          <p:nvPr>
            <p:ph idx="2" type="subTitle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1"/>
          <p:cNvSpPr txBox="1"/>
          <p:nvPr>
            <p:ph idx="3" type="subTitle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4" name="Google Shape;234;p31"/>
          <p:cNvSpPr txBox="1"/>
          <p:nvPr>
            <p:ph idx="4" type="subTitle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1"/>
          <p:cNvSpPr txBox="1"/>
          <p:nvPr>
            <p:ph idx="5" type="subTitle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idx="6" type="subTitle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38" name="Google Shape;23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idx="1" type="subTitle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2" type="subTitle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idx="3" type="subTitle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4" type="subTitle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2"/>
          <p:cNvSpPr txBox="1"/>
          <p:nvPr>
            <p:ph idx="5" type="subTitle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6" name="Google Shape;246;p32"/>
          <p:cNvSpPr txBox="1"/>
          <p:nvPr>
            <p:ph idx="6" type="subTitle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2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248" name="Google Shape;248;p32"/>
          <p:cNvSpPr txBox="1"/>
          <p:nvPr>
            <p:ph idx="7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9" name="Google Shape;249;p32"/>
          <p:cNvSpPr txBox="1"/>
          <p:nvPr>
            <p:ph idx="8" type="subTitle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2"/>
          <p:cNvSpPr txBox="1"/>
          <p:nvPr>
            <p:ph idx="9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13" type="subTitle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2"/>
          <p:cNvSpPr txBox="1"/>
          <p:nvPr>
            <p:ph idx="14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15" type="subTitle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4" name="Google Shape;254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3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0" name="Google Shape;260;p33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3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2" name="Google Shape;262;p33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7" type="subTitle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6" name="Google Shape;266;p33"/>
          <p:cNvSpPr txBox="1"/>
          <p:nvPr>
            <p:ph idx="8" type="subTitle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3"/>
          <p:cNvSpPr txBox="1"/>
          <p:nvPr>
            <p:ph idx="9" type="subTitle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13" type="subTitle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3"/>
          <p:cNvSpPr txBox="1"/>
          <p:nvPr>
            <p:ph idx="14" type="subTitle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15" type="subTitle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3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72" name="Google Shape;272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33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6" name="Google Shape;276;p34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4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4"/>
          <p:cNvSpPr txBox="1"/>
          <p:nvPr>
            <p:ph idx="7" type="subTitle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8" type="subTitle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34"/>
          <p:cNvSpPr txBox="1"/>
          <p:nvPr>
            <p:ph idx="9" type="subTitle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13" type="subTitle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34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86" name="Google Shape;286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4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292" name="Google Shape;292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5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5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idx="1" type="subTitle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0" name="Google Shape;300;p36"/>
          <p:cNvSpPr txBox="1"/>
          <p:nvPr>
            <p:ph idx="2" type="subTitle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6"/>
          <p:cNvSpPr txBox="1"/>
          <p:nvPr>
            <p:ph idx="3" type="subTitle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2" name="Google Shape;302;p36"/>
          <p:cNvSpPr txBox="1"/>
          <p:nvPr>
            <p:ph idx="4" type="subTitle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5" type="subTitle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4" name="Google Shape;304;p36"/>
          <p:cNvSpPr txBox="1"/>
          <p:nvPr>
            <p:ph idx="6" type="subTitle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6"/>
          <p:cNvSpPr txBox="1"/>
          <p:nvPr>
            <p:ph idx="7" type="subTitle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8" type="subTitle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08" name="Google Shape;308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6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idx="1" type="subTitle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2" name="Google Shape;312;p37"/>
          <p:cNvSpPr txBox="1"/>
          <p:nvPr>
            <p:ph idx="2" type="subTitle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37"/>
          <p:cNvSpPr txBox="1"/>
          <p:nvPr>
            <p:ph idx="3" type="subTitle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4" name="Google Shape;314;p37"/>
          <p:cNvSpPr txBox="1"/>
          <p:nvPr>
            <p:ph idx="4" type="subTitle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37"/>
          <p:cNvSpPr txBox="1"/>
          <p:nvPr>
            <p:ph idx="5" type="subTitle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6" name="Google Shape;316;p37"/>
          <p:cNvSpPr txBox="1"/>
          <p:nvPr>
            <p:ph idx="6" type="subTitle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37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18" name="Google Shape;318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7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3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8"/>
          <p:cNvSpPr txBox="1"/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9" name="Google Shape;329;p38"/>
          <p:cNvSpPr txBox="1"/>
          <p:nvPr>
            <p:ph idx="1" type="subTitle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0" name="Google Shape;330;p38"/>
          <p:cNvSpPr txBox="1"/>
          <p:nvPr>
            <p:ph idx="2" type="subTitle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38"/>
          <p:cNvSpPr txBox="1"/>
          <p:nvPr>
            <p:ph idx="3" type="subTitle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2" name="Google Shape;332;p38"/>
          <p:cNvSpPr txBox="1"/>
          <p:nvPr>
            <p:ph idx="4" type="subTitle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8"/>
          <p:cNvSpPr txBox="1"/>
          <p:nvPr>
            <p:ph idx="5" type="subTitle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4" name="Google Shape;334;p38"/>
          <p:cNvSpPr txBox="1"/>
          <p:nvPr>
            <p:ph idx="6" type="subTitle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8"/>
          <p:cNvSpPr txBox="1"/>
          <p:nvPr>
            <p:ph idx="7" type="subTitle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6" name="Google Shape;336;p38"/>
          <p:cNvSpPr txBox="1"/>
          <p:nvPr>
            <p:ph idx="8" type="subTitle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38"/>
          <p:cNvSpPr txBox="1"/>
          <p:nvPr>
            <p:ph hasCustomPrompt="1" idx="9" type="title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8" name="Google Shape;338;p38"/>
          <p:cNvSpPr txBox="1"/>
          <p:nvPr>
            <p:ph hasCustomPrompt="1" idx="13" type="title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38"/>
          <p:cNvSpPr txBox="1"/>
          <p:nvPr>
            <p:ph hasCustomPrompt="1" idx="14" type="title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0" name="Google Shape;340;p38"/>
          <p:cNvSpPr txBox="1"/>
          <p:nvPr>
            <p:ph hasCustomPrompt="1" idx="15" type="title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2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/>
          <p:nvPr>
            <p:ph idx="1" type="subTitle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3" name="Google Shape;343;p39"/>
          <p:cNvSpPr txBox="1"/>
          <p:nvPr>
            <p:ph idx="2" type="subTitle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4" name="Google Shape;344;p39"/>
          <p:cNvSpPr txBox="1"/>
          <p:nvPr>
            <p:ph idx="3" type="subTitle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5" name="Google Shape;345;p39"/>
          <p:cNvSpPr txBox="1"/>
          <p:nvPr>
            <p:ph idx="4" type="subTitle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6" name="Google Shape;346;p39"/>
          <p:cNvSpPr txBox="1"/>
          <p:nvPr>
            <p:ph idx="5" type="subTitle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7" name="Google Shape;347;p39"/>
          <p:cNvSpPr txBox="1"/>
          <p:nvPr>
            <p:ph idx="6" type="subTitle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8" name="Google Shape;348;p39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49" name="Google Shape;349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5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/>
          <p:nvPr>
            <p:ph idx="1" type="subTitle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3" name="Google Shape;353;p40"/>
          <p:cNvSpPr txBox="1"/>
          <p:nvPr>
            <p:ph idx="2" type="subTitle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0"/>
          <p:cNvSpPr txBox="1"/>
          <p:nvPr>
            <p:ph idx="3" type="subTitle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5" name="Google Shape;355;p40"/>
          <p:cNvSpPr txBox="1"/>
          <p:nvPr>
            <p:ph idx="4" type="subTitle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40"/>
          <p:cNvSpPr txBox="1"/>
          <p:nvPr>
            <p:ph idx="5" type="subTitle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7" name="Google Shape;357;p40"/>
          <p:cNvSpPr txBox="1"/>
          <p:nvPr>
            <p:ph idx="6" type="subTitle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40"/>
          <p:cNvSpPr txBox="1"/>
          <p:nvPr>
            <p:ph idx="7" type="subTitle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9" name="Google Shape;359;p40"/>
          <p:cNvSpPr txBox="1"/>
          <p:nvPr>
            <p:ph idx="8" type="subTitle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40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61" name="Google Shape;361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6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1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1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1"/>
          <p:cNvSpPr txBox="1"/>
          <p:nvPr>
            <p:ph idx="1" type="subTitle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1" name="Google Shape;371;p41"/>
          <p:cNvSpPr txBox="1"/>
          <p:nvPr>
            <p:ph idx="2" type="subTitle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41"/>
          <p:cNvSpPr txBox="1"/>
          <p:nvPr>
            <p:ph idx="3" type="subTitle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3" name="Google Shape;373;p41"/>
          <p:cNvSpPr txBox="1"/>
          <p:nvPr>
            <p:ph idx="4" type="subTitle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1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375" name="Google Shape;375;p41"/>
          <p:cNvSpPr txBox="1"/>
          <p:nvPr>
            <p:ph idx="5" type="subTitle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6" name="Google Shape;376;p41"/>
          <p:cNvSpPr txBox="1"/>
          <p:nvPr>
            <p:ph idx="6" type="subTitle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hasCustomPrompt="1" type="title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9" name="Google Shape;379;p42"/>
          <p:cNvSpPr txBox="1"/>
          <p:nvPr>
            <p:ph idx="1" type="subTitle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42"/>
          <p:cNvSpPr txBox="1"/>
          <p:nvPr>
            <p:ph hasCustomPrompt="1" idx="2" type="title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42"/>
          <p:cNvSpPr txBox="1"/>
          <p:nvPr>
            <p:ph idx="3" type="subTitle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42"/>
          <p:cNvSpPr txBox="1"/>
          <p:nvPr>
            <p:ph hasCustomPrompt="1" idx="4" type="title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3" name="Google Shape;383;p42"/>
          <p:cNvSpPr txBox="1"/>
          <p:nvPr>
            <p:ph idx="5" type="subTitle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4" name="Google Shape;384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8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idx="1" type="subTitle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2" type="subTitle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3"/>
          <p:cNvSpPr txBox="1"/>
          <p:nvPr>
            <p:ph idx="3" type="subTitle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90" name="Google Shape;390;p43"/>
          <p:cNvSpPr txBox="1"/>
          <p:nvPr>
            <p:ph idx="4" type="subTitle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43"/>
          <p:cNvSpPr txBox="1"/>
          <p:nvPr>
            <p:ph idx="5" type="subTitle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92" name="Google Shape;392;p43"/>
          <p:cNvSpPr txBox="1"/>
          <p:nvPr>
            <p:ph idx="6" type="subTitle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93" name="Google Shape;393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4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43"/>
          <p:cNvSpPr txBox="1"/>
          <p:nvPr>
            <p:ph hasCustomPrompt="1" type="title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9" name="Google Shape;399;p43"/>
          <p:cNvSpPr txBox="1"/>
          <p:nvPr>
            <p:ph hasCustomPrompt="1" idx="7" type="title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43"/>
          <p:cNvSpPr txBox="1"/>
          <p:nvPr>
            <p:ph hasCustomPrompt="1" idx="8" type="title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7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4" name="Google Shape;404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7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409" name="Google Shape;409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8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 txBox="1"/>
          <p:nvPr>
            <p:ph idx="1" type="subTitle"/>
          </p:nvPr>
        </p:nvSpPr>
        <p:spPr>
          <a:xfrm>
            <a:off x="713225" y="1453525"/>
            <a:ext cx="74112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3" name="Google Shape;413;p46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14" name="Google Shape;414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9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4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4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47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25" name="Google Shape;425;p47"/>
          <p:cNvSpPr txBox="1"/>
          <p:nvPr>
            <p:ph idx="1" type="subTitle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26" name="Google Shape;426;p47"/>
          <p:cNvSpPr txBox="1"/>
          <p:nvPr>
            <p:ph idx="2" type="subTitle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9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 txBox="1"/>
          <p:nvPr>
            <p:ph idx="1" type="subTitle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9" name="Google Shape;429;p48"/>
          <p:cNvSpPr txBox="1"/>
          <p:nvPr>
            <p:ph idx="2" type="subTitle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48"/>
          <p:cNvSpPr txBox="1"/>
          <p:nvPr>
            <p:ph idx="3" type="subTitle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1" name="Google Shape;431;p48"/>
          <p:cNvSpPr txBox="1"/>
          <p:nvPr>
            <p:ph idx="4" type="subTitle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48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33" name="Google Shape;433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3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37" name="Google Shape;437;p49"/>
          <p:cNvSpPr txBox="1"/>
          <p:nvPr>
            <p:ph idx="1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8" name="Google Shape;438;p49"/>
          <p:cNvSpPr txBox="1"/>
          <p:nvPr>
            <p:ph idx="2" type="subTitle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9"/>
          <p:cNvSpPr txBox="1"/>
          <p:nvPr>
            <p:ph idx="3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0" name="Google Shape;440;p49"/>
          <p:cNvSpPr txBox="1"/>
          <p:nvPr>
            <p:ph idx="4" type="subTitle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49"/>
          <p:cNvSpPr txBox="1"/>
          <p:nvPr>
            <p:ph idx="5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2" name="Google Shape;442;p49"/>
          <p:cNvSpPr txBox="1"/>
          <p:nvPr>
            <p:ph idx="6" type="subTitle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43" name="Google Shape;443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4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0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49" name="Google Shape;449;p50"/>
          <p:cNvSpPr txBox="1"/>
          <p:nvPr>
            <p:ph idx="1" type="subTitle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50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1" name="Google Shape;451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50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50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0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5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3C47D"/>
                </a:solidFill>
              </a:rPr>
              <a:t>Ecosystem </a:t>
            </a:r>
            <a:endParaRPr>
              <a:solidFill>
                <a:srgbClr val="93C47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E9E9E"/>
                </a:solidFill>
              </a:rPr>
              <a:t>Simulator</a:t>
            </a:r>
            <a:endParaRPr>
              <a:solidFill>
                <a:srgbClr val="9E9E9E"/>
              </a:solidFill>
            </a:endParaRPr>
          </a:p>
        </p:txBody>
      </p:sp>
      <p:sp>
        <p:nvSpPr>
          <p:cNvPr id="479" name="Google Shape;479;p55"/>
          <p:cNvSpPr txBox="1"/>
          <p:nvPr/>
        </p:nvSpPr>
        <p:spPr>
          <a:xfrm>
            <a:off x="3586950" y="3377100"/>
            <a:ext cx="197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Malachy Parisi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 txBox="1"/>
          <p:nvPr>
            <p:ph idx="1" type="subTitle"/>
          </p:nvPr>
        </p:nvSpPr>
        <p:spPr>
          <a:xfrm>
            <a:off x="758850" y="1189200"/>
            <a:ext cx="7626300" cy="6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Simulazione evolutiva di un ecosistema basata su selezione naturale e comportamento emergente.</a:t>
            </a:r>
            <a:endParaRPr/>
          </a:p>
        </p:txBody>
      </p:sp>
      <p:sp>
        <p:nvSpPr>
          <p:cNvPr id="485" name="Google Shape;485;p56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Simulator</a:t>
            </a:r>
            <a:endParaRPr/>
          </a:p>
        </p:txBody>
      </p:sp>
      <p:pic>
        <p:nvPicPr>
          <p:cNvPr id="486" name="Google Shape;486;p56" title="SimulationRun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8100" y="2002675"/>
            <a:ext cx="4247798" cy="238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7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Descrizione</a:t>
            </a:r>
            <a:endParaRPr/>
          </a:p>
        </p:txBody>
      </p:sp>
      <p:sp>
        <p:nvSpPr>
          <p:cNvPr id="492" name="Google Shape;492;p57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Ecosystem Simulator è una simulazione di ecosistema in cui prede e predatori evolvono nel tempo attraverso meccanismi di selezione naturale.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Ogni animale possiede un insieme di geni che influenza il proprio comportamento. I geni modificano il peso attribuito alle informazioni percepite dall'ambiente, determinando decisioni come: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Ricerca di cibo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Fuga dai predatori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Inseguimento delle prede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Interazione con altri conspecifici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Evitamento di acqua e bordi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Solo gli individui che sopravvivono abbastanza a lungo da riprodursi possono trasmettere i propri geni alle generazioni successive, permettendo l'emergere spontaneo di strategie evolutive.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8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del progetto</a:t>
            </a:r>
            <a:endParaRPr/>
          </a:p>
        </p:txBody>
      </p:sp>
      <p:sp>
        <p:nvSpPr>
          <p:cNvPr id="498" name="Google Shape;498;p58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Piattaforma:</a:t>
            </a:r>
            <a:r>
              <a:rPr lang="en">
                <a:solidFill>
                  <a:schemeClr val="dk1"/>
                </a:solidFill>
              </a:rPr>
              <a:t> PC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Modalità:</a:t>
            </a:r>
            <a:r>
              <a:rPr lang="en">
                <a:solidFill>
                  <a:schemeClr val="dk1"/>
                </a:solidFill>
              </a:rPr>
              <a:t> Single Player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Funzionalità principali:</a:t>
            </a:r>
            <a:endParaRPr b="1"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Simulazione di prede e predatori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Evoluzione genetica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Comportamenti emergenti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Creazione, modifica e salvataggio di ambienti (mappe)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Fertilità del terreno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Camera dinamica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Parametri simulazione personalizzabili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Grafico delle popolazioni e log dati (CSV)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9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Prede</a:t>
            </a:r>
            <a:endParaRPr/>
          </a:p>
        </p:txBody>
      </p:sp>
      <p:sp>
        <p:nvSpPr>
          <p:cNvPr id="504" name="Google Shape;504;p59"/>
          <p:cNvSpPr txBox="1"/>
          <p:nvPr>
            <p:ph idx="1" type="body"/>
          </p:nvPr>
        </p:nvSpPr>
        <p:spPr>
          <a:xfrm>
            <a:off x="713250" y="1272925"/>
            <a:ext cx="34977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 prede rappresentano la base della catena alimentare; in loro assenza, i predatori sono destinati all’estinzione.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Si nutrono delle piante, il cui ciclo di vita dipende dalla fertilità del terreno. Di conseguenza, tendono ad evolversi per migrare in zone più fertili.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 loro decisioni dipendono dai geni ereditati e dalle informazioni percepite nell'ambiente circostante.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Durante la simulazione possono sviluppare strategie sempre più efficaci per la sopravvivenza</a:t>
            </a:r>
            <a:endParaRPr b="1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59" title="Pre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8250" y="1111263"/>
            <a:ext cx="4100476" cy="29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9"/>
          <p:cNvSpPr txBox="1"/>
          <p:nvPr/>
        </p:nvSpPr>
        <p:spPr>
          <a:xfrm>
            <a:off x="6341238" y="4032225"/>
            <a:ext cx="63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Preda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0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Predatori</a:t>
            </a:r>
            <a:endParaRPr/>
          </a:p>
        </p:txBody>
      </p:sp>
      <p:sp>
        <p:nvSpPr>
          <p:cNvPr id="512" name="Google Shape;512;p60"/>
          <p:cNvSpPr txBox="1"/>
          <p:nvPr>
            <p:ph idx="1" type="body"/>
          </p:nvPr>
        </p:nvSpPr>
        <p:spPr>
          <a:xfrm>
            <a:off x="713250" y="1272925"/>
            <a:ext cx="34977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 predatori devono individuare, inseguire e catturare le prede per sopravvivere.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Anche il loro comportamento è influenzato dal patrimonio genetico e dall’ambiente circostante, evolvendosi nel corso delle generazioni.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La pressione esercitata dai predatori contribuisce all'evoluzione delle prede e viceversa.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Un meccanismo di mortalità dei predatori legato alla scarsità di prede evita che queste vengano sterminate, mantenendo le due popolazioni in equilibrio oscillante.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13" name="Google Shape;513;p60" title="Predator.png"/>
          <p:cNvPicPr preferRelativeResize="0"/>
          <p:nvPr/>
        </p:nvPicPr>
        <p:blipFill rotWithShape="1">
          <a:blip r:embed="rId3">
            <a:alphaModFix/>
          </a:blip>
          <a:srcRect b="0" l="7469" r="7461" t="0"/>
          <a:stretch/>
        </p:blipFill>
        <p:spPr>
          <a:xfrm>
            <a:off x="4775250" y="1214363"/>
            <a:ext cx="3811000" cy="27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0"/>
          <p:cNvSpPr txBox="1"/>
          <p:nvPr/>
        </p:nvSpPr>
        <p:spPr>
          <a:xfrm>
            <a:off x="5868050" y="3929125"/>
            <a:ext cx="162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Branco di predatori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1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Comportamenti Emergenti</a:t>
            </a:r>
            <a:endParaRPr/>
          </a:p>
        </p:txBody>
      </p:sp>
      <p:sp>
        <p:nvSpPr>
          <p:cNvPr id="520" name="Google Shape;520;p61"/>
          <p:cNvSpPr txBox="1"/>
          <p:nvPr>
            <p:ph idx="1" type="body"/>
          </p:nvPr>
        </p:nvSpPr>
        <p:spPr>
          <a:xfrm>
            <a:off x="713225" y="1214375"/>
            <a:ext cx="34977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Uno degli aspetti più interessanti della simulazione è l'emergere spontaneo di strategie evolutive non programmate esplicitamente. A seconda delle caratteristiche dell’ambiente (conformazione del terreno, fertilità, acqua) e ai parametri della simulazione, solo gli animali più adatti riescono a riprodursi.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Nell’immagine mostrata, alcune popolazioni di prede hanno sviluppato un comportamento sociale che le porta a rimanere vicine tra loro. L’ambiente povero di predatori e ricco di piante ha favorito i membri più socievoli, poiché la vicinanza concede più occasioni per riprodursi e poiché la competizione per le risorse è pressoché inesistente.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21" name="Google Shape;521;p61" title="Prey - SocialBehaviour.png"/>
          <p:cNvPicPr preferRelativeResize="0"/>
          <p:nvPr/>
        </p:nvPicPr>
        <p:blipFill rotWithShape="1">
          <a:blip r:embed="rId3">
            <a:alphaModFix/>
          </a:blip>
          <a:srcRect b="6095" l="0" r="0" t="6086"/>
          <a:stretch/>
        </p:blipFill>
        <p:spPr>
          <a:xfrm>
            <a:off x="4775250" y="1214363"/>
            <a:ext cx="3810999" cy="27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1"/>
          <p:cNvSpPr txBox="1"/>
          <p:nvPr/>
        </p:nvSpPr>
        <p:spPr>
          <a:xfrm>
            <a:off x="5305850" y="3929125"/>
            <a:ext cx="274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Prede con comportamento sociale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2"/>
          <p:cNvSpPr txBox="1"/>
          <p:nvPr>
            <p:ph type="title"/>
          </p:nvPr>
        </p:nvSpPr>
        <p:spPr>
          <a:xfrm>
            <a:off x="713225" y="445025"/>
            <a:ext cx="734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Ambienti</a:t>
            </a:r>
            <a:endParaRPr/>
          </a:p>
        </p:txBody>
      </p:sp>
      <p:sp>
        <p:nvSpPr>
          <p:cNvPr id="528" name="Google Shape;528;p62"/>
          <p:cNvSpPr txBox="1"/>
          <p:nvPr>
            <p:ph idx="1" type="body"/>
          </p:nvPr>
        </p:nvSpPr>
        <p:spPr>
          <a:xfrm>
            <a:off x="713225" y="1017725"/>
            <a:ext cx="3009900" cy="28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L’utente può creare da sé gli ambienti (chiamati </a:t>
            </a:r>
            <a:r>
              <a:rPr b="1" lang="en">
                <a:solidFill>
                  <a:schemeClr val="dk1"/>
                </a:solidFill>
              </a:rPr>
              <a:t>mappe</a:t>
            </a:r>
            <a:r>
              <a:rPr lang="en">
                <a:solidFill>
                  <a:schemeClr val="dk1"/>
                </a:solidFill>
              </a:rPr>
              <a:t>) in cui gli animali si evolveranno.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 mappe conservano la struttura del terreno, le entità esistenti all’avvio della simulazione e i parametri della simulazione (ogni mappa ha i propri).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Una volta salvate, le mappe possono essere modificate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29" name="Google Shape;529;p62" title="Screenshot 2026-06-04 083250.png"/>
          <p:cNvPicPr preferRelativeResize="0"/>
          <p:nvPr/>
        </p:nvPicPr>
        <p:blipFill rotWithShape="1">
          <a:blip r:embed="rId3">
            <a:alphaModFix/>
          </a:blip>
          <a:srcRect b="5004" l="0" r="0" t="5004"/>
          <a:stretch/>
        </p:blipFill>
        <p:spPr>
          <a:xfrm>
            <a:off x="4210000" y="1300163"/>
            <a:ext cx="452302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62"/>
          <p:cNvSpPr txBox="1"/>
          <p:nvPr/>
        </p:nvSpPr>
        <p:spPr>
          <a:xfrm>
            <a:off x="5324463" y="3843350"/>
            <a:ext cx="229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Schermata selezione mappa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3"/>
          <p:cNvSpPr txBox="1"/>
          <p:nvPr>
            <p:ph type="title"/>
          </p:nvPr>
        </p:nvSpPr>
        <p:spPr>
          <a:xfrm>
            <a:off x="713225" y="445025"/>
            <a:ext cx="734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 Editor - Creazione dell’ambiente</a:t>
            </a:r>
            <a:endParaRPr/>
          </a:p>
        </p:txBody>
      </p:sp>
      <p:sp>
        <p:nvSpPr>
          <p:cNvPr id="536" name="Google Shape;536;p63"/>
          <p:cNvSpPr txBox="1"/>
          <p:nvPr>
            <p:ph idx="1" type="body"/>
          </p:nvPr>
        </p:nvSpPr>
        <p:spPr>
          <a:xfrm>
            <a:off x="713225" y="1017725"/>
            <a:ext cx="73425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Ecosystem Simulator</a:t>
            </a:r>
            <a:r>
              <a:rPr lang="en">
                <a:solidFill>
                  <a:schemeClr val="dk1"/>
                </a:solidFill>
              </a:rPr>
              <a:t> permette di creare e modellare completamente l’ambiente in cui gli animali si evolveranno. Si può modificare la forma del terreno tramite </a:t>
            </a:r>
            <a:r>
              <a:rPr b="1" lang="en">
                <a:solidFill>
                  <a:schemeClr val="dk1"/>
                </a:solidFill>
              </a:rPr>
              <a:t>Terrain Tool</a:t>
            </a:r>
            <a:r>
              <a:rPr lang="en">
                <a:solidFill>
                  <a:schemeClr val="dk1"/>
                </a:solidFill>
              </a:rPr>
              <a:t> (a mano o con generazione Perlin) e posizionare animali, piante e ostacoli tramite </a:t>
            </a:r>
            <a:r>
              <a:rPr b="1" lang="en">
                <a:solidFill>
                  <a:schemeClr val="dk1"/>
                </a:solidFill>
              </a:rPr>
              <a:t>Spawn Tool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37" name="Google Shape;537;p63" title="Editor - TerrainTo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125" y="2024900"/>
            <a:ext cx="4198398" cy="236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63" title="Editor - SpawnTo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4580" y="2024900"/>
            <a:ext cx="4198398" cy="2360642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63"/>
          <p:cNvSpPr txBox="1"/>
          <p:nvPr/>
        </p:nvSpPr>
        <p:spPr>
          <a:xfrm>
            <a:off x="1831175" y="4385550"/>
            <a:ext cx="10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Terrain Tool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p63"/>
          <p:cNvSpPr txBox="1"/>
          <p:nvPr/>
        </p:nvSpPr>
        <p:spPr>
          <a:xfrm>
            <a:off x="6304625" y="4385550"/>
            <a:ext cx="109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Spawn Tool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4"/>
          <p:cNvSpPr txBox="1"/>
          <p:nvPr>
            <p:ph type="title"/>
          </p:nvPr>
        </p:nvSpPr>
        <p:spPr>
          <a:xfrm>
            <a:off x="713225" y="445025"/>
            <a:ext cx="766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Map Editor - Modifica parametri simulazione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4"/>
          <p:cNvSpPr txBox="1"/>
          <p:nvPr>
            <p:ph idx="1" type="body"/>
          </p:nvPr>
        </p:nvSpPr>
        <p:spPr>
          <a:xfrm>
            <a:off x="713225" y="1017725"/>
            <a:ext cx="73425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 costanti utilizzate da animali e piante per determinare dispendio energetico, rate di mutazioni genetiche, spinta riproduttiva e molto altro sono modificabili all’interno delle </a:t>
            </a:r>
            <a:r>
              <a:rPr b="1" lang="en">
                <a:solidFill>
                  <a:schemeClr val="dk1"/>
                </a:solidFill>
              </a:rPr>
              <a:t>Settings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47" name="Google Shape;547;p64" title="Screenshot 2026-06-04 0834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1125" y="1703125"/>
            <a:ext cx="5206688" cy="292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5"/>
          <p:cNvSpPr txBox="1"/>
          <p:nvPr>
            <p:ph type="title"/>
          </p:nvPr>
        </p:nvSpPr>
        <p:spPr>
          <a:xfrm>
            <a:off x="713225" y="445025"/>
            <a:ext cx="766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 Editor - Fertilità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65"/>
          <p:cNvSpPr txBox="1"/>
          <p:nvPr>
            <p:ph idx="1" type="body"/>
          </p:nvPr>
        </p:nvSpPr>
        <p:spPr>
          <a:xfrm>
            <a:off x="713225" y="1017725"/>
            <a:ext cx="3743400" cy="36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La mappa include un sistema di </a:t>
            </a:r>
            <a:r>
              <a:rPr b="1" lang="en">
                <a:solidFill>
                  <a:schemeClr val="dk1"/>
                </a:solidFill>
              </a:rPr>
              <a:t>fertilità</a:t>
            </a:r>
            <a:r>
              <a:rPr lang="en">
                <a:solidFill>
                  <a:schemeClr val="dk1"/>
                </a:solidFill>
              </a:rPr>
              <a:t>,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che determina la velocità e l'efficienza di crescita delle piante.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 zone più fertili offrono maggiori risorse e possono influenzare significativamente il comportamento degli animali.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 gli effetti osservabili figurano: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concentrazione delle popolazioni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migrazioni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competizione per le risorse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formazione di aree strategiche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54" name="Google Shape;554;p65" title="Screenshot 2026-06-04 0833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625" y="1616075"/>
            <a:ext cx="4382574" cy="246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6"/>
          <p:cNvSpPr txBox="1"/>
          <p:nvPr>
            <p:ph type="title"/>
          </p:nvPr>
        </p:nvSpPr>
        <p:spPr>
          <a:xfrm>
            <a:off x="485050" y="388725"/>
            <a:ext cx="1487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Camera</a:t>
            </a:r>
            <a:endParaRPr sz="3000"/>
          </a:p>
        </p:txBody>
      </p:sp>
      <p:sp>
        <p:nvSpPr>
          <p:cNvPr id="560" name="Google Shape;560;p66"/>
          <p:cNvSpPr txBox="1"/>
          <p:nvPr>
            <p:ph idx="1" type="subTitle"/>
          </p:nvPr>
        </p:nvSpPr>
        <p:spPr>
          <a:xfrm>
            <a:off x="485050" y="1035225"/>
            <a:ext cx="8438100" cy="8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Avviata la simulazione, è possibile cliccare su un animale per seguirlo con la visuale. La camera rimarrà focalizzata sull’animale selezionato fino alla sua morte (o finché l’utente lo desidera).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Premendo sul pulsante </a:t>
            </a:r>
            <a:r>
              <a:rPr b="1" lang="en" sz="1100">
                <a:solidFill>
                  <a:schemeClr val="dk1"/>
                </a:solidFill>
              </a:rPr>
              <a:t>POV</a:t>
            </a:r>
            <a:r>
              <a:rPr lang="en" sz="1100">
                <a:solidFill>
                  <a:schemeClr val="dk1"/>
                </a:solidFill>
              </a:rPr>
              <a:t>, inoltre, è possibile immedesimarsi nella prospettiva in prima persona dell’animale.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561" name="Google Shape;561;p66" title="Camera - FocusM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700" y="2032524"/>
            <a:ext cx="3619076" cy="203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66" title="Screenshot 2026-06-04 08344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9212" y="2032513"/>
            <a:ext cx="3619076" cy="2034913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66"/>
          <p:cNvSpPr txBox="1"/>
          <p:nvPr/>
        </p:nvSpPr>
        <p:spPr>
          <a:xfrm>
            <a:off x="1593025" y="4067425"/>
            <a:ext cx="140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Camera - Follow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66"/>
          <p:cNvSpPr txBox="1"/>
          <p:nvPr/>
        </p:nvSpPr>
        <p:spPr>
          <a:xfrm>
            <a:off x="5968000" y="4067425"/>
            <a:ext cx="126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Camera - POV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